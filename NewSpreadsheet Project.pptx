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32561-3BAB-414A-A476-FD68A045DFB8}" v="42" dt="2026-01-19T20:25:25.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39" autoAdjust="0"/>
    <p:restoredTop sz="94660"/>
  </p:normalViewPr>
  <p:slideViewPr>
    <p:cSldViewPr snapToGrid="0">
      <p:cViewPr varScale="1">
        <p:scale>
          <a:sx n="77" d="100"/>
          <a:sy n="77" d="100"/>
        </p:scale>
        <p:origin x="7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EA46A6-A80B-425A-85BB-501B506DEA08}" type="datetimeFigureOut">
              <a:rPr lang="en-GB" smtClean="0"/>
              <a:t>20/01/2026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1770516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EA46A6-A80B-425A-85BB-501B506DEA08}" type="datetimeFigureOut">
              <a:rPr lang="en-GB" smtClean="0"/>
              <a:t>20/01/2026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467878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EA46A6-A80B-425A-85BB-501B506DEA08}" type="datetimeFigureOut">
              <a:rPr lang="en-GB" smtClean="0"/>
              <a:t>20/01/2026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2795649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1891895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EA46A6-A80B-425A-85BB-501B506DEA08}" type="datetimeFigureOut">
              <a:rPr lang="en-GB" smtClean="0"/>
              <a:t>20/01/2026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980622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EA46A6-A80B-425A-85BB-501B506DEA08}" type="datetimeFigureOut">
              <a:rPr lang="en-GB" smtClean="0"/>
              <a:t>20/01/2026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3336659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EA46A6-A80B-425A-85BB-501B506DEA08}" type="datetimeFigureOut">
              <a:rPr lang="en-GB" smtClean="0"/>
              <a:t>20/01/2026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2407526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781520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913762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3698433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3093658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04270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EA46A6-A80B-425A-85BB-501B506DEA08}" type="datetimeFigureOut">
              <a:rPr lang="en-GB" smtClean="0"/>
              <a:t>20/01/2026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3856566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2EA46A6-A80B-425A-85BB-501B506DEA08}" type="datetimeFigureOut">
              <a:rPr lang="en-GB" smtClean="0"/>
              <a:t>20/01/2026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699518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2EA46A6-A80B-425A-85BB-501B506DEA08}" type="datetimeFigureOut">
              <a:rPr lang="en-GB" smtClean="0"/>
              <a:t>20/01/2026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3575445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EA46A6-A80B-425A-85BB-501B506DEA08}" type="datetimeFigureOut">
              <a:rPr lang="en-GB" smtClean="0"/>
              <a:t>20/01/2026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2585614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EA46A6-A80B-425A-85BB-501B506DEA08}" type="datetimeFigureOut">
              <a:rPr lang="en-GB" smtClean="0"/>
              <a:t>20/01/2026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AB661-83C9-4A81-B5C8-086746FC7C33}" type="slidenum">
              <a:rPr lang="en-GB" smtClean="0"/>
              <a:t>‹#›</a:t>
            </a:fld>
            <a:endParaRPr lang="en-GB"/>
          </a:p>
        </p:txBody>
      </p:sp>
    </p:spTree>
    <p:extLst>
      <p:ext uri="{BB962C8B-B14F-4D97-AF65-F5344CB8AC3E}">
        <p14:creationId xmlns:p14="http://schemas.microsoft.com/office/powerpoint/2010/main" val="410903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2EA46A6-A80B-425A-85BB-501B506DEA08}" type="datetimeFigureOut">
              <a:rPr lang="en-GB" smtClean="0"/>
              <a:t>20/01/2026</a:t>
            </a:fld>
            <a:endParaRPr lang="en-GB"/>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50AB661-83C9-4A81-B5C8-086746FC7C33}" type="slidenum">
              <a:rPr lang="en-GB" smtClean="0"/>
              <a:t>‹#›</a:t>
            </a:fld>
            <a:endParaRPr lang="en-GB"/>
          </a:p>
        </p:txBody>
      </p:sp>
    </p:spTree>
    <p:extLst>
      <p:ext uri="{BB962C8B-B14F-4D97-AF65-F5344CB8AC3E}">
        <p14:creationId xmlns:p14="http://schemas.microsoft.com/office/powerpoint/2010/main" val="3795270125"/>
      </p:ext>
    </p:extLst>
  </p:cSld>
  <p:clrMap bg1="dk1" tx1="lt1" bg2="dk2" tx2="lt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C4B1-F009-8B49-816D-273A082BF4B1}"/>
              </a:ext>
            </a:extLst>
          </p:cNvPr>
          <p:cNvSpPr>
            <a:spLocks noGrp="1"/>
          </p:cNvSpPr>
          <p:nvPr>
            <p:ph type="ctrTitle"/>
          </p:nvPr>
        </p:nvSpPr>
        <p:spPr/>
        <p:txBody>
          <a:bodyPr>
            <a:normAutofit fontScale="90000"/>
          </a:bodyPr>
          <a:lstStyle/>
          <a:p>
            <a:r>
              <a:rPr lang="en-GB" b="1" dirty="0"/>
              <a:t>Spreadsheet Project:</a:t>
            </a:r>
            <a:br>
              <a:rPr lang="en-GB" b="0" dirty="0">
                <a:effectLst/>
              </a:rPr>
            </a:br>
            <a:r>
              <a:rPr lang="en-GB" b="1" dirty="0"/>
              <a:t>IT Ticket Analysis</a:t>
            </a:r>
            <a:br>
              <a:rPr lang="en-GB" b="0" dirty="0">
                <a:effectLst/>
              </a:rPr>
            </a:br>
            <a:br>
              <a:rPr lang="en-GB" dirty="0"/>
            </a:br>
            <a:endParaRPr lang="en-GB" dirty="0"/>
          </a:p>
        </p:txBody>
      </p:sp>
      <p:sp>
        <p:nvSpPr>
          <p:cNvPr id="3" name="Subtitle 2">
            <a:extLst>
              <a:ext uri="{FF2B5EF4-FFF2-40B4-BE49-F238E27FC236}">
                <a16:creationId xmlns:a16="http://schemas.microsoft.com/office/drawing/2014/main" id="{9F5797FF-DECE-2BA0-F7ED-EF758D9DCDCA}"/>
              </a:ext>
            </a:extLst>
          </p:cNvPr>
          <p:cNvSpPr>
            <a:spLocks noGrp="1"/>
          </p:cNvSpPr>
          <p:nvPr>
            <p:ph type="subTitle" idx="1"/>
          </p:nvPr>
        </p:nvSpPr>
        <p:spPr/>
        <p:txBody>
          <a:bodyPr>
            <a:normAutofit/>
          </a:bodyPr>
          <a:lstStyle/>
          <a:p>
            <a:r>
              <a:rPr lang="en-GB" sz="3200" dirty="0"/>
              <a:t>By </a:t>
            </a:r>
          </a:p>
          <a:p>
            <a:r>
              <a:rPr lang="en-GB" sz="3200" dirty="0"/>
              <a:t>Adithya Patel</a:t>
            </a:r>
          </a:p>
        </p:txBody>
      </p:sp>
      <p:pic>
        <p:nvPicPr>
          <p:cNvPr id="5" name="Picture 4">
            <a:extLst>
              <a:ext uri="{FF2B5EF4-FFF2-40B4-BE49-F238E27FC236}">
                <a16:creationId xmlns:a16="http://schemas.microsoft.com/office/drawing/2014/main" id="{1719C6C3-95F9-E758-C99A-CF602543A15E}"/>
              </a:ext>
            </a:extLst>
          </p:cNvPr>
          <p:cNvPicPr>
            <a:picLocks noChangeAspect="1"/>
          </p:cNvPicPr>
          <p:nvPr/>
        </p:nvPicPr>
        <p:blipFill>
          <a:blip r:embed="rId2"/>
          <a:stretch>
            <a:fillRect/>
          </a:stretch>
        </p:blipFill>
        <p:spPr>
          <a:xfrm>
            <a:off x="7602196" y="2763078"/>
            <a:ext cx="3937134" cy="26597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2817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3A52C-C5ED-D2AC-0A0A-6A8AFE0EE097}"/>
              </a:ext>
            </a:extLst>
          </p:cNvPr>
          <p:cNvSpPr>
            <a:spLocks noGrp="1"/>
          </p:cNvSpPr>
          <p:nvPr>
            <p:ph type="title"/>
          </p:nvPr>
        </p:nvSpPr>
        <p:spPr/>
        <p:txBody>
          <a:bodyPr/>
          <a:lstStyle/>
          <a:p>
            <a:pPr algn="ctr"/>
            <a:r>
              <a:rPr lang="en-GB" dirty="0"/>
              <a:t>Agenda</a:t>
            </a:r>
          </a:p>
        </p:txBody>
      </p:sp>
      <p:sp>
        <p:nvSpPr>
          <p:cNvPr id="4" name="Rectangle 1">
            <a:extLst>
              <a:ext uri="{FF2B5EF4-FFF2-40B4-BE49-F238E27FC236}">
                <a16:creationId xmlns:a16="http://schemas.microsoft.com/office/drawing/2014/main" id="{82EA1F64-B937-8A80-EE24-DE4BB0EB8476}"/>
              </a:ext>
            </a:extLst>
          </p:cNvPr>
          <p:cNvSpPr>
            <a:spLocks noGrp="1" noChangeArrowheads="1"/>
          </p:cNvSpPr>
          <p:nvPr>
            <p:ph idx="1"/>
          </p:nvPr>
        </p:nvSpPr>
        <p:spPr bwMode="auto">
          <a:xfrm>
            <a:off x="113712" y="2447024"/>
            <a:ext cx="105156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Problem Overview</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Data &amp; Methodology       </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Key Insights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Recommendations</a:t>
            </a:r>
          </a:p>
        </p:txBody>
      </p:sp>
      <p:pic>
        <p:nvPicPr>
          <p:cNvPr id="6" name="Picture 5">
            <a:extLst>
              <a:ext uri="{FF2B5EF4-FFF2-40B4-BE49-F238E27FC236}">
                <a16:creationId xmlns:a16="http://schemas.microsoft.com/office/drawing/2014/main" id="{49668A6D-CEB6-1E5F-58BF-78887FCA857D}"/>
              </a:ext>
            </a:extLst>
          </p:cNvPr>
          <p:cNvPicPr>
            <a:picLocks noChangeAspect="1"/>
          </p:cNvPicPr>
          <p:nvPr/>
        </p:nvPicPr>
        <p:blipFill>
          <a:blip r:embed="rId2"/>
          <a:stretch>
            <a:fillRect/>
          </a:stretch>
        </p:blipFill>
        <p:spPr>
          <a:xfrm>
            <a:off x="5864087" y="2673625"/>
            <a:ext cx="5244443" cy="25464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72851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A186C-90DD-F804-FB3B-2FF2BB81A097}"/>
              </a:ext>
            </a:extLst>
          </p:cNvPr>
          <p:cNvSpPr>
            <a:spLocks noGrp="1"/>
          </p:cNvSpPr>
          <p:nvPr>
            <p:ph type="title"/>
          </p:nvPr>
        </p:nvSpPr>
        <p:spPr/>
        <p:txBody>
          <a:bodyPr/>
          <a:lstStyle/>
          <a:p>
            <a:pPr algn="ctr"/>
            <a:r>
              <a:rPr lang="en-GB" dirty="0"/>
              <a:t>Problem Statement</a:t>
            </a:r>
          </a:p>
        </p:txBody>
      </p:sp>
      <p:sp>
        <p:nvSpPr>
          <p:cNvPr id="4" name="Rectangle 1">
            <a:extLst>
              <a:ext uri="{FF2B5EF4-FFF2-40B4-BE49-F238E27FC236}">
                <a16:creationId xmlns:a16="http://schemas.microsoft.com/office/drawing/2014/main" id="{A4820E34-BC5A-0100-5451-E734D9336A33}"/>
              </a:ext>
            </a:extLst>
          </p:cNvPr>
          <p:cNvSpPr>
            <a:spLocks noGrp="1" noChangeArrowheads="1"/>
          </p:cNvSpPr>
          <p:nvPr>
            <p:ph idx="1"/>
          </p:nvPr>
        </p:nvSpPr>
        <p:spPr bwMode="auto">
          <a:xfrm>
            <a:off x="699051" y="2581474"/>
            <a:ext cx="36344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Need for efficient IT support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Impact of delayed tickets</a:t>
            </a:r>
          </a:p>
        </p:txBody>
      </p:sp>
      <p:sp>
        <p:nvSpPr>
          <p:cNvPr id="6" name="TextBox 5">
            <a:extLst>
              <a:ext uri="{FF2B5EF4-FFF2-40B4-BE49-F238E27FC236}">
                <a16:creationId xmlns:a16="http://schemas.microsoft.com/office/drawing/2014/main" id="{3EDDBFCA-DEE6-211C-1CA7-5170BCD94AD1}"/>
              </a:ext>
            </a:extLst>
          </p:cNvPr>
          <p:cNvSpPr txBox="1"/>
          <p:nvPr/>
        </p:nvSpPr>
        <p:spPr>
          <a:xfrm>
            <a:off x="470449" y="4698040"/>
            <a:ext cx="11426689" cy="1569660"/>
          </a:xfrm>
          <a:prstGeom prst="rect">
            <a:avLst/>
          </a:prstGeom>
          <a:noFill/>
        </p:spPr>
        <p:txBody>
          <a:bodyPr wrap="square">
            <a:spAutoFit/>
          </a:bodyPr>
          <a:lstStyle/>
          <a:p>
            <a:r>
              <a:rPr lang="en-GB" sz="2400" dirty="0"/>
              <a:t>IT support directly affects employee productivity. When tickets are delayed, employees lose time and efficiency. Management needs clarity on whether tickets are being handled efficiently, whether agents are overloaded, and whether employees are satisfied with the support they receive.</a:t>
            </a:r>
          </a:p>
        </p:txBody>
      </p:sp>
      <p:pic>
        <p:nvPicPr>
          <p:cNvPr id="8" name="Picture 7">
            <a:extLst>
              <a:ext uri="{FF2B5EF4-FFF2-40B4-BE49-F238E27FC236}">
                <a16:creationId xmlns:a16="http://schemas.microsoft.com/office/drawing/2014/main" id="{A3CB2D2A-500D-BA02-FDB6-F45E50316A64}"/>
              </a:ext>
            </a:extLst>
          </p:cNvPr>
          <p:cNvPicPr>
            <a:picLocks noChangeAspect="1"/>
          </p:cNvPicPr>
          <p:nvPr/>
        </p:nvPicPr>
        <p:blipFill>
          <a:blip r:embed="rId2"/>
          <a:stretch>
            <a:fillRect/>
          </a:stretch>
        </p:blipFill>
        <p:spPr>
          <a:xfrm>
            <a:off x="7152864" y="1593791"/>
            <a:ext cx="3634409" cy="28986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50023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252D-4430-20D7-FBF9-9BC192E95701}"/>
              </a:ext>
            </a:extLst>
          </p:cNvPr>
          <p:cNvSpPr>
            <a:spLocks noGrp="1"/>
          </p:cNvSpPr>
          <p:nvPr>
            <p:ph type="title"/>
          </p:nvPr>
        </p:nvSpPr>
        <p:spPr/>
        <p:txBody>
          <a:bodyPr/>
          <a:lstStyle/>
          <a:p>
            <a:r>
              <a:rPr lang="en-GB" dirty="0"/>
              <a:t>Data Overview</a:t>
            </a:r>
          </a:p>
        </p:txBody>
      </p:sp>
      <p:sp>
        <p:nvSpPr>
          <p:cNvPr id="4" name="Rectangle 1">
            <a:extLst>
              <a:ext uri="{FF2B5EF4-FFF2-40B4-BE49-F238E27FC236}">
                <a16:creationId xmlns:a16="http://schemas.microsoft.com/office/drawing/2014/main" id="{51FFCC7C-CB9F-3D2E-DFF1-88445C18B587}"/>
              </a:ext>
            </a:extLst>
          </p:cNvPr>
          <p:cNvSpPr>
            <a:spLocks noGrp="1" noChangeArrowheads="1"/>
          </p:cNvSpPr>
          <p:nvPr>
            <p:ph idx="1"/>
          </p:nvPr>
        </p:nvSpPr>
        <p:spPr bwMode="auto">
          <a:xfrm>
            <a:off x="669234" y="2320968"/>
            <a:ext cx="26504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Tickets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IT Agents dataset</a:t>
            </a:r>
          </a:p>
        </p:txBody>
      </p:sp>
      <p:pic>
        <p:nvPicPr>
          <p:cNvPr id="7" name="Picture 6">
            <a:extLst>
              <a:ext uri="{FF2B5EF4-FFF2-40B4-BE49-F238E27FC236}">
                <a16:creationId xmlns:a16="http://schemas.microsoft.com/office/drawing/2014/main" id="{844F9375-7C66-54B4-C966-C8CBFD79BB6B}"/>
              </a:ext>
            </a:extLst>
          </p:cNvPr>
          <p:cNvPicPr>
            <a:picLocks noChangeAspect="1"/>
          </p:cNvPicPr>
          <p:nvPr/>
        </p:nvPicPr>
        <p:blipFill>
          <a:blip r:embed="rId2"/>
          <a:stretch>
            <a:fillRect/>
          </a:stretch>
        </p:blipFill>
        <p:spPr>
          <a:xfrm>
            <a:off x="6091959" y="1690688"/>
            <a:ext cx="4811268" cy="2025651"/>
          </a:xfrm>
          <a:prstGeom prst="rect">
            <a:avLst/>
          </a:prstGeom>
        </p:spPr>
      </p:pic>
      <p:pic>
        <p:nvPicPr>
          <p:cNvPr id="9" name="Picture 8">
            <a:extLst>
              <a:ext uri="{FF2B5EF4-FFF2-40B4-BE49-F238E27FC236}">
                <a16:creationId xmlns:a16="http://schemas.microsoft.com/office/drawing/2014/main" id="{182C5330-EE84-17C0-7133-D4CBD611946C}"/>
              </a:ext>
            </a:extLst>
          </p:cNvPr>
          <p:cNvPicPr>
            <a:picLocks noChangeAspect="1"/>
          </p:cNvPicPr>
          <p:nvPr/>
        </p:nvPicPr>
        <p:blipFill>
          <a:blip r:embed="rId3"/>
          <a:stretch>
            <a:fillRect/>
          </a:stretch>
        </p:blipFill>
        <p:spPr>
          <a:xfrm>
            <a:off x="6091959" y="3850900"/>
            <a:ext cx="4811268" cy="2382003"/>
          </a:xfrm>
          <a:prstGeom prst="rect">
            <a:avLst/>
          </a:prstGeom>
          <a:ln>
            <a:noFill/>
          </a:ln>
          <a:effectLst>
            <a:softEdge rad="112500"/>
          </a:effectLst>
        </p:spPr>
      </p:pic>
      <p:sp>
        <p:nvSpPr>
          <p:cNvPr id="11" name="TextBox 10">
            <a:extLst>
              <a:ext uri="{FF2B5EF4-FFF2-40B4-BE49-F238E27FC236}">
                <a16:creationId xmlns:a16="http://schemas.microsoft.com/office/drawing/2014/main" id="{834BC4B0-D318-F4C5-BA3C-9199C27772A7}"/>
              </a:ext>
            </a:extLst>
          </p:cNvPr>
          <p:cNvSpPr txBox="1"/>
          <p:nvPr/>
        </p:nvSpPr>
        <p:spPr>
          <a:xfrm>
            <a:off x="136663" y="4092402"/>
            <a:ext cx="6097656" cy="1754326"/>
          </a:xfrm>
          <a:prstGeom prst="rect">
            <a:avLst/>
          </a:prstGeom>
          <a:noFill/>
        </p:spPr>
        <p:txBody>
          <a:bodyPr wrap="square">
            <a:spAutoFit/>
          </a:bodyPr>
          <a:lstStyle/>
          <a:p>
            <a:r>
              <a:rPr lang="en-GB" dirty="0"/>
              <a:t>This analysis uses two datasets. One contains ticket-level details such as category, priority, severity, resolution time, and satisfaction score. The second contains agent-level details like agent ID, name, and department. Together, they allow us to </a:t>
            </a:r>
            <a:r>
              <a:rPr lang="en-GB" dirty="0" err="1"/>
              <a:t>analyze</a:t>
            </a:r>
            <a:r>
              <a:rPr lang="en-GB" dirty="0"/>
              <a:t> both operations and individual performance.</a:t>
            </a:r>
          </a:p>
        </p:txBody>
      </p:sp>
    </p:spTree>
    <p:extLst>
      <p:ext uri="{BB962C8B-B14F-4D97-AF65-F5344CB8AC3E}">
        <p14:creationId xmlns:p14="http://schemas.microsoft.com/office/powerpoint/2010/main" val="35716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9834-4056-7A94-61D2-BEF3D9621F45}"/>
              </a:ext>
            </a:extLst>
          </p:cNvPr>
          <p:cNvSpPr>
            <a:spLocks noGrp="1"/>
          </p:cNvSpPr>
          <p:nvPr>
            <p:ph type="title"/>
          </p:nvPr>
        </p:nvSpPr>
        <p:spPr/>
        <p:txBody>
          <a:bodyPr/>
          <a:lstStyle/>
          <a:p>
            <a:r>
              <a:rPr lang="en-GB" dirty="0"/>
              <a:t>Ticket Volume Trend</a:t>
            </a:r>
          </a:p>
        </p:txBody>
      </p:sp>
      <p:sp>
        <p:nvSpPr>
          <p:cNvPr id="4" name="Rectangle 1">
            <a:extLst>
              <a:ext uri="{FF2B5EF4-FFF2-40B4-BE49-F238E27FC236}">
                <a16:creationId xmlns:a16="http://schemas.microsoft.com/office/drawing/2014/main" id="{90A62907-BDC2-9FF3-8766-FBD23F7A2747}"/>
              </a:ext>
            </a:extLst>
          </p:cNvPr>
          <p:cNvSpPr>
            <a:spLocks noGrp="1" noChangeArrowheads="1"/>
          </p:cNvSpPr>
          <p:nvPr>
            <p:ph idx="1"/>
          </p:nvPr>
        </p:nvSpPr>
        <p:spPr bwMode="auto">
          <a:xfrm>
            <a:off x="838199" y="2030820"/>
            <a:ext cx="39922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Ticket volume is steady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Predictable business-day spikes</a:t>
            </a:r>
          </a:p>
        </p:txBody>
      </p:sp>
      <p:sp>
        <p:nvSpPr>
          <p:cNvPr id="6" name="TextBox 5">
            <a:extLst>
              <a:ext uri="{FF2B5EF4-FFF2-40B4-BE49-F238E27FC236}">
                <a16:creationId xmlns:a16="http://schemas.microsoft.com/office/drawing/2014/main" id="{A9B064F7-D08B-DB71-82C2-184DA783C7F7}"/>
              </a:ext>
            </a:extLst>
          </p:cNvPr>
          <p:cNvSpPr txBox="1"/>
          <p:nvPr/>
        </p:nvSpPr>
        <p:spPr>
          <a:xfrm>
            <a:off x="838199" y="3580685"/>
            <a:ext cx="5015949" cy="1477328"/>
          </a:xfrm>
          <a:prstGeom prst="rect">
            <a:avLst/>
          </a:prstGeom>
          <a:noFill/>
        </p:spPr>
        <p:txBody>
          <a:bodyPr wrap="square">
            <a:spAutoFit/>
          </a:bodyPr>
          <a:lstStyle/>
          <a:p>
            <a:r>
              <a:rPr lang="en-GB" dirty="0"/>
              <a:t>Ticket inflow is fairly consistent over time, with predictable increases during regular business days. This tells us that the workload is stable, not random, which is important for planning and decision-making.”</a:t>
            </a:r>
          </a:p>
        </p:txBody>
      </p:sp>
      <p:pic>
        <p:nvPicPr>
          <p:cNvPr id="8" name="Picture 7">
            <a:extLst>
              <a:ext uri="{FF2B5EF4-FFF2-40B4-BE49-F238E27FC236}">
                <a16:creationId xmlns:a16="http://schemas.microsoft.com/office/drawing/2014/main" id="{5A3AA2A8-5F75-F7F3-8437-A70484D0AFE0}"/>
              </a:ext>
            </a:extLst>
          </p:cNvPr>
          <p:cNvPicPr>
            <a:picLocks noChangeAspect="1"/>
          </p:cNvPicPr>
          <p:nvPr/>
        </p:nvPicPr>
        <p:blipFill>
          <a:blip r:embed="rId2"/>
          <a:stretch>
            <a:fillRect/>
          </a:stretch>
        </p:blipFill>
        <p:spPr>
          <a:xfrm>
            <a:off x="7409616" y="3866364"/>
            <a:ext cx="3766059" cy="2078785"/>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79806278-48FB-D080-3CAB-C81E448F8FB4}"/>
              </a:ext>
            </a:extLst>
          </p:cNvPr>
          <p:cNvPicPr>
            <a:picLocks noChangeAspect="1"/>
          </p:cNvPicPr>
          <p:nvPr/>
        </p:nvPicPr>
        <p:blipFill>
          <a:blip r:embed="rId3"/>
          <a:stretch>
            <a:fillRect/>
          </a:stretch>
        </p:blipFill>
        <p:spPr>
          <a:xfrm>
            <a:off x="7257999" y="1495222"/>
            <a:ext cx="3992217" cy="1947242"/>
          </a:xfrm>
          <a:prstGeom prst="rect">
            <a:avLst/>
          </a:prstGeom>
        </p:spPr>
      </p:pic>
    </p:spTree>
    <p:extLst>
      <p:ext uri="{BB962C8B-B14F-4D97-AF65-F5344CB8AC3E}">
        <p14:creationId xmlns:p14="http://schemas.microsoft.com/office/powerpoint/2010/main" val="3500294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4E888-94C3-3C23-4F5E-A7E2DBCDA4DA}"/>
              </a:ext>
            </a:extLst>
          </p:cNvPr>
          <p:cNvSpPr>
            <a:spLocks noGrp="1"/>
          </p:cNvSpPr>
          <p:nvPr>
            <p:ph type="title"/>
          </p:nvPr>
        </p:nvSpPr>
        <p:spPr/>
        <p:txBody>
          <a:bodyPr/>
          <a:lstStyle/>
          <a:p>
            <a:r>
              <a:rPr lang="en-GB" dirty="0"/>
              <a:t>Ticket Categories</a:t>
            </a:r>
          </a:p>
        </p:txBody>
      </p:sp>
      <p:sp>
        <p:nvSpPr>
          <p:cNvPr id="4" name="Rectangle 1">
            <a:extLst>
              <a:ext uri="{FF2B5EF4-FFF2-40B4-BE49-F238E27FC236}">
                <a16:creationId xmlns:a16="http://schemas.microsoft.com/office/drawing/2014/main" id="{00474329-7156-2F18-A2A2-E67D3A4E30F4}"/>
              </a:ext>
            </a:extLst>
          </p:cNvPr>
          <p:cNvSpPr>
            <a:spLocks noGrp="1" noChangeArrowheads="1"/>
          </p:cNvSpPr>
          <p:nvPr>
            <p:ph idx="1"/>
          </p:nvPr>
        </p:nvSpPr>
        <p:spPr bwMode="auto">
          <a:xfrm>
            <a:off x="838200" y="2050699"/>
            <a:ext cx="247153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Major request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High-demand areas</a:t>
            </a:r>
          </a:p>
        </p:txBody>
      </p:sp>
      <p:sp>
        <p:nvSpPr>
          <p:cNvPr id="6" name="TextBox 5">
            <a:extLst>
              <a:ext uri="{FF2B5EF4-FFF2-40B4-BE49-F238E27FC236}">
                <a16:creationId xmlns:a16="http://schemas.microsoft.com/office/drawing/2014/main" id="{C7573895-6A9E-B138-9175-5CE831BB6ACB}"/>
              </a:ext>
            </a:extLst>
          </p:cNvPr>
          <p:cNvSpPr txBox="1"/>
          <p:nvPr/>
        </p:nvSpPr>
        <p:spPr>
          <a:xfrm>
            <a:off x="752887" y="3057041"/>
            <a:ext cx="3958261" cy="1754326"/>
          </a:xfrm>
          <a:prstGeom prst="rect">
            <a:avLst/>
          </a:prstGeom>
          <a:noFill/>
        </p:spPr>
        <p:txBody>
          <a:bodyPr wrap="square">
            <a:spAutoFit/>
          </a:bodyPr>
          <a:lstStyle/>
          <a:p>
            <a:r>
              <a:rPr lang="en-GB" dirty="0"/>
              <a:t>System-related and login access issues form the majority of tickets. This immediately highlights where most IT effort is being spent and where process improvements could have the biggest impact.</a:t>
            </a:r>
          </a:p>
        </p:txBody>
      </p:sp>
      <p:pic>
        <p:nvPicPr>
          <p:cNvPr id="5123" name="Picture 3">
            <a:extLst>
              <a:ext uri="{FF2B5EF4-FFF2-40B4-BE49-F238E27FC236}">
                <a16:creationId xmlns:a16="http://schemas.microsoft.com/office/drawing/2014/main" id="{795FF2E1-1B28-9982-6075-A280ED14C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6792" y="2050699"/>
            <a:ext cx="5180356" cy="3271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05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EA07B-51F9-961E-FCD5-7E7F1B38BDDB}"/>
              </a:ext>
            </a:extLst>
          </p:cNvPr>
          <p:cNvSpPr>
            <a:spLocks noGrp="1"/>
          </p:cNvSpPr>
          <p:nvPr>
            <p:ph type="title"/>
          </p:nvPr>
        </p:nvSpPr>
        <p:spPr/>
        <p:txBody>
          <a:bodyPr/>
          <a:lstStyle/>
          <a:p>
            <a:r>
              <a:rPr lang="en-GB" dirty="0"/>
              <a:t>Agent Workload Distribution</a:t>
            </a:r>
          </a:p>
        </p:txBody>
      </p:sp>
      <p:sp>
        <p:nvSpPr>
          <p:cNvPr id="4" name="Rectangle 1">
            <a:extLst>
              <a:ext uri="{FF2B5EF4-FFF2-40B4-BE49-F238E27FC236}">
                <a16:creationId xmlns:a16="http://schemas.microsoft.com/office/drawing/2014/main" id="{595B9922-857E-6411-6251-8B110BACF8D3}"/>
              </a:ext>
            </a:extLst>
          </p:cNvPr>
          <p:cNvSpPr>
            <a:spLocks noGrp="1" noChangeArrowheads="1"/>
          </p:cNvSpPr>
          <p:nvPr>
            <p:ph idx="1"/>
          </p:nvPr>
        </p:nvSpPr>
        <p:spPr bwMode="auto">
          <a:xfrm>
            <a:off x="838200" y="2080516"/>
            <a:ext cx="26305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a:t>
            </a:r>
            <a:r>
              <a:rPr lang="en-US" altLang="en-US" sz="1800"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even workload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Not extreme imbalance</a:t>
            </a:r>
          </a:p>
        </p:txBody>
      </p:sp>
      <p:sp>
        <p:nvSpPr>
          <p:cNvPr id="6" name="TextBox 5">
            <a:extLst>
              <a:ext uri="{FF2B5EF4-FFF2-40B4-BE49-F238E27FC236}">
                <a16:creationId xmlns:a16="http://schemas.microsoft.com/office/drawing/2014/main" id="{FBA7AB5B-0F4E-0234-16D9-C800BC25F69B}"/>
              </a:ext>
            </a:extLst>
          </p:cNvPr>
          <p:cNvSpPr txBox="1"/>
          <p:nvPr/>
        </p:nvSpPr>
        <p:spPr>
          <a:xfrm>
            <a:off x="693254" y="3547452"/>
            <a:ext cx="4405520" cy="1477328"/>
          </a:xfrm>
          <a:prstGeom prst="rect">
            <a:avLst/>
          </a:prstGeom>
          <a:noFill/>
        </p:spPr>
        <p:txBody>
          <a:bodyPr wrap="square">
            <a:spAutoFit/>
          </a:bodyPr>
          <a:lstStyle/>
          <a:p>
            <a:pPr>
              <a:buNone/>
            </a:pPr>
            <a:r>
              <a:rPr lang="en-GB" dirty="0"/>
              <a:t>“Some agents handle more tickets than others, but the difference is not extreme. What’s important is that workload alone does not explain performance differences.”</a:t>
            </a:r>
          </a:p>
        </p:txBody>
      </p:sp>
      <p:pic>
        <p:nvPicPr>
          <p:cNvPr id="7" name="Picture 6">
            <a:extLst>
              <a:ext uri="{FF2B5EF4-FFF2-40B4-BE49-F238E27FC236}">
                <a16:creationId xmlns:a16="http://schemas.microsoft.com/office/drawing/2014/main" id="{7FBB9A8F-0935-0608-47D5-BC4FD9113ADB}"/>
              </a:ext>
            </a:extLst>
          </p:cNvPr>
          <p:cNvPicPr>
            <a:picLocks noChangeAspect="1"/>
          </p:cNvPicPr>
          <p:nvPr/>
        </p:nvPicPr>
        <p:blipFill>
          <a:blip r:embed="rId2"/>
          <a:stretch>
            <a:fillRect/>
          </a:stretch>
        </p:blipFill>
        <p:spPr>
          <a:xfrm>
            <a:off x="5278582" y="1935921"/>
            <a:ext cx="5787736" cy="30888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47240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88074-1A6A-AAE5-A71A-8FF07EA63184}"/>
              </a:ext>
            </a:extLst>
          </p:cNvPr>
          <p:cNvSpPr>
            <a:spLocks noGrp="1"/>
          </p:cNvSpPr>
          <p:nvPr>
            <p:ph type="title"/>
          </p:nvPr>
        </p:nvSpPr>
        <p:spPr/>
        <p:txBody>
          <a:bodyPr/>
          <a:lstStyle/>
          <a:p>
            <a:pPr algn="ctr"/>
            <a:r>
              <a:rPr lang="en-GB" dirty="0"/>
              <a:t>Resolution Time by Agent</a:t>
            </a:r>
          </a:p>
        </p:txBody>
      </p:sp>
      <p:sp>
        <p:nvSpPr>
          <p:cNvPr id="5" name="Rectangle 2">
            <a:extLst>
              <a:ext uri="{FF2B5EF4-FFF2-40B4-BE49-F238E27FC236}">
                <a16:creationId xmlns:a16="http://schemas.microsoft.com/office/drawing/2014/main" id="{355D2B2E-0125-4329-1017-D4C1B5C8E7CB}"/>
              </a:ext>
            </a:extLst>
          </p:cNvPr>
          <p:cNvSpPr>
            <a:spLocks noGrp="1" noChangeArrowheads="1"/>
          </p:cNvSpPr>
          <p:nvPr>
            <p:ph idx="1"/>
          </p:nvPr>
        </p:nvSpPr>
        <p:spPr bwMode="auto">
          <a:xfrm>
            <a:off x="838200" y="2165241"/>
            <a:ext cx="255104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Performance variation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Skill gaps visible</a:t>
            </a:r>
          </a:p>
        </p:txBody>
      </p:sp>
      <p:sp>
        <p:nvSpPr>
          <p:cNvPr id="7" name="TextBox 6">
            <a:extLst>
              <a:ext uri="{FF2B5EF4-FFF2-40B4-BE49-F238E27FC236}">
                <a16:creationId xmlns:a16="http://schemas.microsoft.com/office/drawing/2014/main" id="{C3C679BF-D6A0-F90A-BF73-D171FFEEC7C3}"/>
              </a:ext>
            </a:extLst>
          </p:cNvPr>
          <p:cNvSpPr txBox="1"/>
          <p:nvPr/>
        </p:nvSpPr>
        <p:spPr>
          <a:xfrm>
            <a:off x="748748" y="3127010"/>
            <a:ext cx="6019800" cy="1200329"/>
          </a:xfrm>
          <a:prstGeom prst="rect">
            <a:avLst/>
          </a:prstGeom>
          <a:noFill/>
        </p:spPr>
        <p:txBody>
          <a:bodyPr wrap="square">
            <a:spAutoFit/>
          </a:bodyPr>
          <a:lstStyle/>
          <a:p>
            <a:r>
              <a:rPr lang="en-GB" dirty="0"/>
              <a:t>Here we clearly see that certain agents consistently take longer to resolve tickets, even with similar workloads. This points toward skill or process gaps rather than capacity issues</a:t>
            </a:r>
          </a:p>
        </p:txBody>
      </p:sp>
      <p:sp>
        <p:nvSpPr>
          <p:cNvPr id="11" name="TextBox 10">
            <a:extLst>
              <a:ext uri="{FF2B5EF4-FFF2-40B4-BE49-F238E27FC236}">
                <a16:creationId xmlns:a16="http://schemas.microsoft.com/office/drawing/2014/main" id="{76E14322-F692-5DCA-D7ED-18BD00A0DAC7}"/>
              </a:ext>
            </a:extLst>
          </p:cNvPr>
          <p:cNvSpPr txBox="1"/>
          <p:nvPr/>
        </p:nvSpPr>
        <p:spPr>
          <a:xfrm>
            <a:off x="670892" y="4327339"/>
            <a:ext cx="6097656" cy="923330"/>
          </a:xfrm>
          <a:prstGeom prst="rect">
            <a:avLst/>
          </a:prstGeom>
          <a:noFill/>
        </p:spPr>
        <p:txBody>
          <a:bodyPr wrap="square">
            <a:spAutoFit/>
          </a:bodyPr>
          <a:lstStyle/>
          <a:p>
            <a:r>
              <a:rPr lang="en-GB" dirty="0"/>
              <a:t>This suggests that the issue is not the number of tickets assigned, but rather skill gaps, experience levels, or familiarity with certain issue types.”</a:t>
            </a:r>
          </a:p>
        </p:txBody>
      </p:sp>
      <p:pic>
        <p:nvPicPr>
          <p:cNvPr id="4" name="Picture 3" descr="A graph of a bar chart">
            <a:extLst>
              <a:ext uri="{FF2B5EF4-FFF2-40B4-BE49-F238E27FC236}">
                <a16:creationId xmlns:a16="http://schemas.microsoft.com/office/drawing/2014/main" id="{E70A5D77-6D6A-E065-B5ED-AEF1B7DD3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4260" y="2165241"/>
            <a:ext cx="4276997" cy="28513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42690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FA1E-6985-875E-3654-93EFE43B0C02}"/>
              </a:ext>
            </a:extLst>
          </p:cNvPr>
          <p:cNvSpPr>
            <a:spLocks noGrp="1"/>
          </p:cNvSpPr>
          <p:nvPr>
            <p:ph type="title"/>
          </p:nvPr>
        </p:nvSpPr>
        <p:spPr/>
        <p:txBody>
          <a:bodyPr/>
          <a:lstStyle/>
          <a:p>
            <a:r>
              <a:rPr lang="en-GB" dirty="0"/>
              <a:t>Severity vs Resolution Time</a:t>
            </a:r>
          </a:p>
        </p:txBody>
      </p:sp>
      <p:sp>
        <p:nvSpPr>
          <p:cNvPr id="4" name="Rectangle 1">
            <a:extLst>
              <a:ext uri="{FF2B5EF4-FFF2-40B4-BE49-F238E27FC236}">
                <a16:creationId xmlns:a16="http://schemas.microsoft.com/office/drawing/2014/main" id="{D3695492-83CD-8252-E87E-5D2FE738F7B4}"/>
              </a:ext>
            </a:extLst>
          </p:cNvPr>
          <p:cNvSpPr>
            <a:spLocks noGrp="1" noChangeArrowheads="1"/>
          </p:cNvSpPr>
          <p:nvPr>
            <p:ph idx="1"/>
          </p:nvPr>
        </p:nvSpPr>
        <p:spPr bwMode="auto">
          <a:xfrm>
            <a:off x="913795" y="2553666"/>
            <a:ext cx="32113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Severity impacts resolution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Expected vs avoidable delay</a:t>
            </a:r>
          </a:p>
        </p:txBody>
      </p:sp>
      <p:sp>
        <p:nvSpPr>
          <p:cNvPr id="6" name="TextBox 5">
            <a:extLst>
              <a:ext uri="{FF2B5EF4-FFF2-40B4-BE49-F238E27FC236}">
                <a16:creationId xmlns:a16="http://schemas.microsoft.com/office/drawing/2014/main" id="{2ADE24A6-1765-F914-1FAB-7322DEE494C4}"/>
              </a:ext>
            </a:extLst>
          </p:cNvPr>
          <p:cNvSpPr txBox="1"/>
          <p:nvPr/>
        </p:nvSpPr>
        <p:spPr>
          <a:xfrm>
            <a:off x="913795" y="3506759"/>
            <a:ext cx="3570633" cy="1754326"/>
          </a:xfrm>
          <a:prstGeom prst="rect">
            <a:avLst/>
          </a:prstGeom>
          <a:noFill/>
        </p:spPr>
        <p:txBody>
          <a:bodyPr wrap="square">
            <a:spAutoFit/>
          </a:bodyPr>
          <a:lstStyle/>
          <a:p>
            <a:r>
              <a:rPr lang="en-GB" dirty="0"/>
              <a:t>“Higher severity tickets naturally take longer to resolve. This relationship helps us distinguish between justified delays and inefficiencies that can be improved.”</a:t>
            </a:r>
          </a:p>
        </p:txBody>
      </p:sp>
      <p:pic>
        <p:nvPicPr>
          <p:cNvPr id="1027" name="Picture 3">
            <a:extLst>
              <a:ext uri="{FF2B5EF4-FFF2-40B4-BE49-F238E27FC236}">
                <a16:creationId xmlns:a16="http://schemas.microsoft.com/office/drawing/2014/main" id="{710E428F-1C7F-352E-6A2F-CEE28E7DE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0675" y="2553666"/>
            <a:ext cx="4477023" cy="2596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637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05ED7-754D-2AFC-0A39-3DFD78231AFA}"/>
              </a:ext>
            </a:extLst>
          </p:cNvPr>
          <p:cNvSpPr>
            <a:spLocks noGrp="1"/>
          </p:cNvSpPr>
          <p:nvPr>
            <p:ph type="title"/>
          </p:nvPr>
        </p:nvSpPr>
        <p:spPr/>
        <p:txBody>
          <a:bodyPr/>
          <a:lstStyle/>
          <a:p>
            <a:r>
              <a:rPr lang="en-GB" dirty="0"/>
              <a:t>Investment Decision</a:t>
            </a:r>
          </a:p>
        </p:txBody>
      </p:sp>
      <p:sp>
        <p:nvSpPr>
          <p:cNvPr id="4" name="Rectangle 1">
            <a:extLst>
              <a:ext uri="{FF2B5EF4-FFF2-40B4-BE49-F238E27FC236}">
                <a16:creationId xmlns:a16="http://schemas.microsoft.com/office/drawing/2014/main" id="{C997E51D-A9EC-4333-195E-AF4C8921EF4F}"/>
              </a:ext>
            </a:extLst>
          </p:cNvPr>
          <p:cNvSpPr>
            <a:spLocks noGrp="1" noChangeArrowheads="1"/>
          </p:cNvSpPr>
          <p:nvPr>
            <p:ph idx="1"/>
          </p:nvPr>
        </p:nvSpPr>
        <p:spPr bwMode="auto">
          <a:xfrm>
            <a:off x="913795" y="2707723"/>
            <a:ext cx="39265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Resolution time drives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Capacity ≠ efficiency</a:t>
            </a:r>
          </a:p>
        </p:txBody>
      </p:sp>
      <p:sp>
        <p:nvSpPr>
          <p:cNvPr id="6" name="TextBox 5">
            <a:extLst>
              <a:ext uri="{FF2B5EF4-FFF2-40B4-BE49-F238E27FC236}">
                <a16:creationId xmlns:a16="http://schemas.microsoft.com/office/drawing/2014/main" id="{ABB91E3D-3D2A-5BB3-F40C-229C6191F596}"/>
              </a:ext>
            </a:extLst>
          </p:cNvPr>
          <p:cNvSpPr txBox="1"/>
          <p:nvPr/>
        </p:nvSpPr>
        <p:spPr>
          <a:xfrm>
            <a:off x="822463" y="3952606"/>
            <a:ext cx="4017894" cy="2031325"/>
          </a:xfrm>
          <a:prstGeom prst="rect">
            <a:avLst/>
          </a:prstGeom>
          <a:noFill/>
        </p:spPr>
        <p:txBody>
          <a:bodyPr wrap="square">
            <a:spAutoFit/>
          </a:bodyPr>
          <a:lstStyle/>
          <a:p>
            <a:r>
              <a:rPr lang="en-GB" dirty="0"/>
              <a:t>“Satisfaction drops mainly when resolution time increases, not when ticket volume increases. This clearly shows that hiring more agents won’t solve the core issue. Improving efficiency through training and better tools will.”</a:t>
            </a:r>
          </a:p>
        </p:txBody>
      </p:sp>
      <p:pic>
        <p:nvPicPr>
          <p:cNvPr id="8" name="Picture 7">
            <a:extLst>
              <a:ext uri="{FF2B5EF4-FFF2-40B4-BE49-F238E27FC236}">
                <a16:creationId xmlns:a16="http://schemas.microsoft.com/office/drawing/2014/main" id="{D55CC46D-2149-EAD7-7E49-5A63DDDF8251}"/>
              </a:ext>
            </a:extLst>
          </p:cNvPr>
          <p:cNvPicPr>
            <a:picLocks noChangeAspect="1"/>
          </p:cNvPicPr>
          <p:nvPr/>
        </p:nvPicPr>
        <p:blipFill>
          <a:blip r:embed="rId2"/>
          <a:stretch>
            <a:fillRect/>
          </a:stretch>
        </p:blipFill>
        <p:spPr>
          <a:xfrm>
            <a:off x="5868238" y="2707723"/>
            <a:ext cx="4776572" cy="860425"/>
          </a:xfrm>
          <a:prstGeom prst="rect">
            <a:avLst/>
          </a:prstGeom>
        </p:spPr>
      </p:pic>
      <p:pic>
        <p:nvPicPr>
          <p:cNvPr id="10" name="Picture 9">
            <a:extLst>
              <a:ext uri="{FF2B5EF4-FFF2-40B4-BE49-F238E27FC236}">
                <a16:creationId xmlns:a16="http://schemas.microsoft.com/office/drawing/2014/main" id="{92C9EF45-6580-4FB9-0145-10E4030E5204}"/>
              </a:ext>
            </a:extLst>
          </p:cNvPr>
          <p:cNvPicPr>
            <a:picLocks noChangeAspect="1"/>
          </p:cNvPicPr>
          <p:nvPr/>
        </p:nvPicPr>
        <p:blipFill>
          <a:blip r:embed="rId3"/>
          <a:stretch>
            <a:fillRect/>
          </a:stretch>
        </p:blipFill>
        <p:spPr>
          <a:xfrm>
            <a:off x="5868238" y="3697733"/>
            <a:ext cx="4776572" cy="22861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08531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0C23-D703-43DB-2CA2-769D597B71AB}"/>
              </a:ext>
            </a:extLst>
          </p:cNvPr>
          <p:cNvSpPr>
            <a:spLocks noGrp="1"/>
          </p:cNvSpPr>
          <p:nvPr>
            <p:ph type="title"/>
          </p:nvPr>
        </p:nvSpPr>
        <p:spPr/>
        <p:txBody>
          <a:bodyPr/>
          <a:lstStyle/>
          <a:p>
            <a:r>
              <a:rPr lang="en-GB" dirty="0"/>
              <a:t>Training Needs</a:t>
            </a:r>
          </a:p>
        </p:txBody>
      </p:sp>
      <p:sp>
        <p:nvSpPr>
          <p:cNvPr id="4" name="Rectangle 1">
            <a:extLst>
              <a:ext uri="{FF2B5EF4-FFF2-40B4-BE49-F238E27FC236}">
                <a16:creationId xmlns:a16="http://schemas.microsoft.com/office/drawing/2014/main" id="{D229FB10-4D5A-4AF1-3702-C57F73ACAE90}"/>
              </a:ext>
            </a:extLst>
          </p:cNvPr>
          <p:cNvSpPr>
            <a:spLocks noGrp="1" noChangeArrowheads="1"/>
          </p:cNvSpPr>
          <p:nvPr>
            <p:ph idx="1"/>
          </p:nvPr>
        </p:nvSpPr>
        <p:spPr bwMode="auto">
          <a:xfrm>
            <a:off x="913796" y="2195858"/>
            <a:ext cx="432322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underperformers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Skill-based gaps</a:t>
            </a:r>
          </a:p>
        </p:txBody>
      </p:sp>
      <p:sp>
        <p:nvSpPr>
          <p:cNvPr id="6" name="TextBox 5">
            <a:extLst>
              <a:ext uri="{FF2B5EF4-FFF2-40B4-BE49-F238E27FC236}">
                <a16:creationId xmlns:a16="http://schemas.microsoft.com/office/drawing/2014/main" id="{7D126139-BAF8-FBE2-D7AA-131DF44F487A}"/>
              </a:ext>
            </a:extLst>
          </p:cNvPr>
          <p:cNvSpPr txBox="1"/>
          <p:nvPr/>
        </p:nvSpPr>
        <p:spPr>
          <a:xfrm>
            <a:off x="832402" y="3345670"/>
            <a:ext cx="4747516" cy="1477328"/>
          </a:xfrm>
          <a:prstGeom prst="rect">
            <a:avLst/>
          </a:prstGeom>
          <a:noFill/>
        </p:spPr>
        <p:txBody>
          <a:bodyPr wrap="square">
            <a:spAutoFit/>
          </a:bodyPr>
          <a:lstStyle/>
          <a:p>
            <a:r>
              <a:rPr lang="en-GB" dirty="0"/>
              <a:t>A small group of agents consistently shows higher resolution times and lower satisfaction scores. These agents are not overloaded; they need targeted training and support.</a:t>
            </a:r>
          </a:p>
        </p:txBody>
      </p:sp>
      <p:pic>
        <p:nvPicPr>
          <p:cNvPr id="7" name="Picture 6" descr="A graph with green and blue dots&#10;&#10;AI-generated content may be incorrect.">
            <a:extLst>
              <a:ext uri="{FF2B5EF4-FFF2-40B4-BE49-F238E27FC236}">
                <a16:creationId xmlns:a16="http://schemas.microsoft.com/office/drawing/2014/main" id="{F864B3F9-AF65-EEAC-FF78-B34CEE8A9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0675" y="2195858"/>
            <a:ext cx="5012486" cy="27262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03254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CB6C9-3B06-5AC1-7E0A-359F66DFFFF2}"/>
              </a:ext>
            </a:extLst>
          </p:cNvPr>
          <p:cNvSpPr>
            <a:spLocks noGrp="1"/>
          </p:cNvSpPr>
          <p:nvPr>
            <p:ph type="title"/>
          </p:nvPr>
        </p:nvSpPr>
        <p:spPr/>
        <p:txBody>
          <a:bodyPr/>
          <a:lstStyle/>
          <a:p>
            <a:r>
              <a:rPr lang="en-GB" dirty="0"/>
              <a:t>Request Category Performance</a:t>
            </a:r>
          </a:p>
        </p:txBody>
      </p:sp>
      <p:sp>
        <p:nvSpPr>
          <p:cNvPr id="5" name="Rectangle 2">
            <a:extLst>
              <a:ext uri="{FF2B5EF4-FFF2-40B4-BE49-F238E27FC236}">
                <a16:creationId xmlns:a16="http://schemas.microsoft.com/office/drawing/2014/main" id="{C72229C7-56E5-B4DD-264A-8C28CD8BA263}"/>
              </a:ext>
            </a:extLst>
          </p:cNvPr>
          <p:cNvSpPr>
            <a:spLocks noGrp="1" noChangeArrowheads="1"/>
          </p:cNvSpPr>
          <p:nvPr>
            <p:ph idx="1"/>
          </p:nvPr>
        </p:nvSpPr>
        <p:spPr bwMode="auto">
          <a:xfrm>
            <a:off x="1052942" y="2934666"/>
            <a:ext cx="31612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Complex categories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Longer resolution cycles</a:t>
            </a:r>
          </a:p>
        </p:txBody>
      </p:sp>
      <p:sp>
        <p:nvSpPr>
          <p:cNvPr id="7" name="TextBox 6">
            <a:extLst>
              <a:ext uri="{FF2B5EF4-FFF2-40B4-BE49-F238E27FC236}">
                <a16:creationId xmlns:a16="http://schemas.microsoft.com/office/drawing/2014/main" id="{707C5B34-ABB8-7DE4-099B-941B291CCB18}"/>
              </a:ext>
            </a:extLst>
          </p:cNvPr>
          <p:cNvSpPr txBox="1"/>
          <p:nvPr/>
        </p:nvSpPr>
        <p:spPr>
          <a:xfrm>
            <a:off x="913796" y="3998750"/>
            <a:ext cx="3300396" cy="1754326"/>
          </a:xfrm>
          <a:prstGeom prst="rect">
            <a:avLst/>
          </a:prstGeom>
          <a:noFill/>
        </p:spPr>
        <p:txBody>
          <a:bodyPr wrap="square">
            <a:spAutoFit/>
          </a:bodyPr>
          <a:lstStyle/>
          <a:p>
            <a:r>
              <a:rPr lang="en-GB" dirty="0"/>
              <a:t>“System and software-related requests take the longest to resolve. This highlights opportunities for automation, better documentation, and standardized workflows.”</a:t>
            </a:r>
          </a:p>
        </p:txBody>
      </p:sp>
      <p:pic>
        <p:nvPicPr>
          <p:cNvPr id="8" name="Picture 7">
            <a:extLst>
              <a:ext uri="{FF2B5EF4-FFF2-40B4-BE49-F238E27FC236}">
                <a16:creationId xmlns:a16="http://schemas.microsoft.com/office/drawing/2014/main" id="{9BFAF267-75C9-48B3-C8D0-1E86A93884B0}"/>
              </a:ext>
            </a:extLst>
          </p:cNvPr>
          <p:cNvPicPr>
            <a:picLocks noChangeAspect="1"/>
          </p:cNvPicPr>
          <p:nvPr/>
        </p:nvPicPr>
        <p:blipFill>
          <a:blip r:embed="rId2"/>
          <a:stretch>
            <a:fillRect/>
          </a:stretch>
        </p:blipFill>
        <p:spPr>
          <a:xfrm>
            <a:off x="5747288" y="2840433"/>
            <a:ext cx="4978250" cy="2784763"/>
          </a:xfrm>
          <a:prstGeom prst="rect">
            <a:avLst/>
          </a:prstGeom>
        </p:spPr>
      </p:pic>
    </p:spTree>
    <p:extLst>
      <p:ext uri="{BB962C8B-B14F-4D97-AF65-F5344CB8AC3E}">
        <p14:creationId xmlns:p14="http://schemas.microsoft.com/office/powerpoint/2010/main" val="4159128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CB300-EA72-6AF8-652B-658D037E4927}"/>
              </a:ext>
            </a:extLst>
          </p:cNvPr>
          <p:cNvSpPr>
            <a:spLocks noGrp="1"/>
          </p:cNvSpPr>
          <p:nvPr>
            <p:ph type="title"/>
          </p:nvPr>
        </p:nvSpPr>
        <p:spPr/>
        <p:txBody>
          <a:bodyPr/>
          <a:lstStyle/>
          <a:p>
            <a:r>
              <a:rPr lang="en-GB" dirty="0"/>
              <a:t>Effectiveness of Current Tools</a:t>
            </a:r>
          </a:p>
        </p:txBody>
      </p:sp>
      <p:sp>
        <p:nvSpPr>
          <p:cNvPr id="3" name="Content Placeholder 2">
            <a:extLst>
              <a:ext uri="{FF2B5EF4-FFF2-40B4-BE49-F238E27FC236}">
                <a16:creationId xmlns:a16="http://schemas.microsoft.com/office/drawing/2014/main" id="{A35E569C-F89D-E62F-9811-D95411EAFFE7}"/>
              </a:ext>
            </a:extLst>
          </p:cNvPr>
          <p:cNvSpPr>
            <a:spLocks noGrp="1"/>
          </p:cNvSpPr>
          <p:nvPr>
            <p:ph idx="1"/>
          </p:nvPr>
        </p:nvSpPr>
        <p:spPr>
          <a:xfrm>
            <a:off x="924443" y="3198553"/>
            <a:ext cx="3697962" cy="1084458"/>
          </a:xfrm>
        </p:spPr>
        <p:txBody>
          <a:bodyPr/>
          <a:lstStyle/>
          <a:p>
            <a:r>
              <a:rPr lang="en-GB" dirty="0"/>
              <a:t>Tool efficiency limitations</a:t>
            </a:r>
          </a:p>
          <a:p>
            <a:endParaRPr lang="en-GB" dirty="0"/>
          </a:p>
          <a:p>
            <a:endParaRPr lang="en-GB" dirty="0"/>
          </a:p>
          <a:p>
            <a:endParaRPr lang="en-GB" dirty="0"/>
          </a:p>
        </p:txBody>
      </p:sp>
      <p:sp>
        <p:nvSpPr>
          <p:cNvPr id="6" name="TextBox 5">
            <a:extLst>
              <a:ext uri="{FF2B5EF4-FFF2-40B4-BE49-F238E27FC236}">
                <a16:creationId xmlns:a16="http://schemas.microsoft.com/office/drawing/2014/main" id="{CB8DCAF3-93ED-87F6-6CE4-B60E75A3728E}"/>
              </a:ext>
            </a:extLst>
          </p:cNvPr>
          <p:cNvSpPr txBox="1"/>
          <p:nvPr/>
        </p:nvSpPr>
        <p:spPr>
          <a:xfrm>
            <a:off x="924443" y="3776361"/>
            <a:ext cx="6097656" cy="369332"/>
          </a:xfrm>
          <a:prstGeom prst="rect">
            <a:avLst/>
          </a:prstGeom>
          <a:noFill/>
        </p:spPr>
        <p:txBody>
          <a:bodyPr wrap="square">
            <a:spAutoFit/>
          </a:bodyPr>
          <a:lstStyle/>
          <a:p>
            <a:r>
              <a:rPr lang="en-GB" dirty="0"/>
              <a:t>Manual handling during peaks</a:t>
            </a:r>
          </a:p>
        </p:txBody>
      </p:sp>
      <p:sp>
        <p:nvSpPr>
          <p:cNvPr id="8" name="TextBox 7">
            <a:extLst>
              <a:ext uri="{FF2B5EF4-FFF2-40B4-BE49-F238E27FC236}">
                <a16:creationId xmlns:a16="http://schemas.microsoft.com/office/drawing/2014/main" id="{7C37FF42-5F80-FC0E-F63F-DDDD7BBE078B}"/>
              </a:ext>
            </a:extLst>
          </p:cNvPr>
          <p:cNvSpPr txBox="1"/>
          <p:nvPr/>
        </p:nvSpPr>
        <p:spPr>
          <a:xfrm>
            <a:off x="913795" y="4438976"/>
            <a:ext cx="5357796" cy="1200329"/>
          </a:xfrm>
          <a:prstGeom prst="rect">
            <a:avLst/>
          </a:prstGeom>
          <a:noFill/>
        </p:spPr>
        <p:txBody>
          <a:bodyPr wrap="square">
            <a:spAutoFit/>
          </a:bodyPr>
          <a:lstStyle/>
          <a:p>
            <a:r>
              <a:rPr lang="en-GB" dirty="0"/>
              <a:t>Resolution efficiency does not improve significantly during peak ticket volumes. This suggests that current tools are functional but limited, especially during high demand.</a:t>
            </a:r>
          </a:p>
        </p:txBody>
      </p:sp>
      <p:pic>
        <p:nvPicPr>
          <p:cNvPr id="10" name="Picture 9">
            <a:extLst>
              <a:ext uri="{FF2B5EF4-FFF2-40B4-BE49-F238E27FC236}">
                <a16:creationId xmlns:a16="http://schemas.microsoft.com/office/drawing/2014/main" id="{B6EA4951-C3B3-F6EB-A40A-9272E124A458}"/>
              </a:ext>
            </a:extLst>
          </p:cNvPr>
          <p:cNvPicPr>
            <a:picLocks noChangeAspect="1"/>
          </p:cNvPicPr>
          <p:nvPr/>
        </p:nvPicPr>
        <p:blipFill>
          <a:blip r:embed="rId2"/>
          <a:stretch>
            <a:fillRect/>
          </a:stretch>
        </p:blipFill>
        <p:spPr>
          <a:xfrm>
            <a:off x="6917635" y="2848410"/>
            <a:ext cx="3846443" cy="25286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27064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32B93-2BED-9C4F-A625-56B3CC987FFE}"/>
              </a:ext>
            </a:extLst>
          </p:cNvPr>
          <p:cNvSpPr>
            <a:spLocks noGrp="1"/>
          </p:cNvSpPr>
          <p:nvPr>
            <p:ph type="title"/>
          </p:nvPr>
        </p:nvSpPr>
        <p:spPr/>
        <p:txBody>
          <a:bodyPr/>
          <a:lstStyle/>
          <a:p>
            <a:r>
              <a:rPr lang="en-GB" dirty="0"/>
              <a:t>Performance Over Time</a:t>
            </a:r>
          </a:p>
        </p:txBody>
      </p:sp>
      <p:sp>
        <p:nvSpPr>
          <p:cNvPr id="4" name="Rectangle 1">
            <a:extLst>
              <a:ext uri="{FF2B5EF4-FFF2-40B4-BE49-F238E27FC236}">
                <a16:creationId xmlns:a16="http://schemas.microsoft.com/office/drawing/2014/main" id="{D3410B23-869A-BCEA-DEE8-73BE27F57EDB}"/>
              </a:ext>
            </a:extLst>
          </p:cNvPr>
          <p:cNvSpPr>
            <a:spLocks noGrp="1" noChangeArrowheads="1"/>
          </p:cNvSpPr>
          <p:nvPr>
            <p:ph idx="1"/>
          </p:nvPr>
        </p:nvSpPr>
        <p:spPr bwMode="auto">
          <a:xfrm>
            <a:off x="913795" y="2604051"/>
            <a:ext cx="28431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Gradual improvement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Informal learning</a:t>
            </a:r>
          </a:p>
        </p:txBody>
      </p:sp>
      <p:sp>
        <p:nvSpPr>
          <p:cNvPr id="6" name="TextBox 5">
            <a:extLst>
              <a:ext uri="{FF2B5EF4-FFF2-40B4-BE49-F238E27FC236}">
                <a16:creationId xmlns:a16="http://schemas.microsoft.com/office/drawing/2014/main" id="{CE832922-4315-31A9-4324-96F4120AB15B}"/>
              </a:ext>
            </a:extLst>
          </p:cNvPr>
          <p:cNvSpPr txBox="1"/>
          <p:nvPr/>
        </p:nvSpPr>
        <p:spPr>
          <a:xfrm>
            <a:off x="913795" y="3721751"/>
            <a:ext cx="4612362" cy="1477328"/>
          </a:xfrm>
          <a:prstGeom prst="rect">
            <a:avLst/>
          </a:prstGeom>
          <a:noFill/>
        </p:spPr>
        <p:txBody>
          <a:bodyPr wrap="square">
            <a:spAutoFit/>
          </a:bodyPr>
          <a:lstStyle/>
          <a:p>
            <a:r>
              <a:rPr lang="en-GB" dirty="0"/>
              <a:t>There is gradual improvement over time, likely due to experience. However, the improvement is slow, indicating the need for structured training and better systems.”</a:t>
            </a:r>
          </a:p>
        </p:txBody>
      </p:sp>
      <p:pic>
        <p:nvPicPr>
          <p:cNvPr id="10" name="Picture 9">
            <a:extLst>
              <a:ext uri="{FF2B5EF4-FFF2-40B4-BE49-F238E27FC236}">
                <a16:creationId xmlns:a16="http://schemas.microsoft.com/office/drawing/2014/main" id="{745AD66B-7E1E-46CD-0540-CA9050F558F8}"/>
              </a:ext>
            </a:extLst>
          </p:cNvPr>
          <p:cNvPicPr>
            <a:picLocks noChangeAspect="1"/>
          </p:cNvPicPr>
          <p:nvPr/>
        </p:nvPicPr>
        <p:blipFill>
          <a:blip r:embed="rId2"/>
          <a:stretch>
            <a:fillRect/>
          </a:stretch>
        </p:blipFill>
        <p:spPr>
          <a:xfrm>
            <a:off x="7065817" y="1730685"/>
            <a:ext cx="4107837" cy="22060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A graph of a number of different colored lines&#10;&#10;AI-generated content may be incorrect.">
            <a:extLst>
              <a:ext uri="{FF2B5EF4-FFF2-40B4-BE49-F238E27FC236}">
                <a16:creationId xmlns:a16="http://schemas.microsoft.com/office/drawing/2014/main" id="{B15BE6EA-46A7-543B-B587-64336C9D65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1927" y="4187537"/>
            <a:ext cx="4215629" cy="20608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5771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DB24-0317-5EBC-45C9-8262626AFA58}"/>
              </a:ext>
            </a:extLst>
          </p:cNvPr>
          <p:cNvSpPr>
            <a:spLocks noGrp="1"/>
          </p:cNvSpPr>
          <p:nvPr>
            <p:ph type="title"/>
          </p:nvPr>
        </p:nvSpPr>
        <p:spPr/>
        <p:txBody>
          <a:bodyPr/>
          <a:lstStyle/>
          <a:p>
            <a:r>
              <a:rPr lang="en-GB" dirty="0"/>
              <a:t>Dashboard Walkthrough</a:t>
            </a:r>
          </a:p>
        </p:txBody>
      </p:sp>
      <p:sp>
        <p:nvSpPr>
          <p:cNvPr id="4" name="Rectangle 1">
            <a:extLst>
              <a:ext uri="{FF2B5EF4-FFF2-40B4-BE49-F238E27FC236}">
                <a16:creationId xmlns:a16="http://schemas.microsoft.com/office/drawing/2014/main" id="{950C68B1-D049-2D38-0ACC-2C6F91E08D50}"/>
              </a:ext>
            </a:extLst>
          </p:cNvPr>
          <p:cNvSpPr>
            <a:spLocks noGrp="1" noChangeArrowheads="1"/>
          </p:cNvSpPr>
          <p:nvPr>
            <p:ph idx="1"/>
          </p:nvPr>
        </p:nvSpPr>
        <p:spPr bwMode="auto">
          <a:xfrm>
            <a:off x="593036" y="2474153"/>
            <a:ext cx="30717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One integrated 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Interactive analysis</a:t>
            </a:r>
          </a:p>
        </p:txBody>
      </p:sp>
      <p:sp>
        <p:nvSpPr>
          <p:cNvPr id="6" name="TextBox 5">
            <a:extLst>
              <a:ext uri="{FF2B5EF4-FFF2-40B4-BE49-F238E27FC236}">
                <a16:creationId xmlns:a16="http://schemas.microsoft.com/office/drawing/2014/main" id="{3B989210-FBFD-CD3C-6436-2DF73F5A01BF}"/>
              </a:ext>
            </a:extLst>
          </p:cNvPr>
          <p:cNvSpPr txBox="1"/>
          <p:nvPr/>
        </p:nvSpPr>
        <p:spPr>
          <a:xfrm>
            <a:off x="593036" y="3429000"/>
            <a:ext cx="4764155" cy="1200329"/>
          </a:xfrm>
          <a:prstGeom prst="rect">
            <a:avLst/>
          </a:prstGeom>
          <a:noFill/>
        </p:spPr>
        <p:txBody>
          <a:bodyPr wrap="square">
            <a:spAutoFit/>
          </a:bodyPr>
          <a:lstStyle/>
          <a:p>
            <a:r>
              <a:rPr lang="en-GB" dirty="0"/>
              <a:t>this dashboard brings all insights together. Management can filter by priority and year, explore trends over time, and identify problem areas during long discussions</a:t>
            </a:r>
          </a:p>
        </p:txBody>
      </p:sp>
      <p:pic>
        <p:nvPicPr>
          <p:cNvPr id="8" name="Picture 7">
            <a:extLst>
              <a:ext uri="{FF2B5EF4-FFF2-40B4-BE49-F238E27FC236}">
                <a16:creationId xmlns:a16="http://schemas.microsoft.com/office/drawing/2014/main" id="{B0849A27-766E-87E7-1D49-5A6E316AAEFD}"/>
              </a:ext>
            </a:extLst>
          </p:cNvPr>
          <p:cNvPicPr>
            <a:picLocks noChangeAspect="1"/>
          </p:cNvPicPr>
          <p:nvPr/>
        </p:nvPicPr>
        <p:blipFill>
          <a:blip r:embed="rId2"/>
          <a:stretch>
            <a:fillRect/>
          </a:stretch>
        </p:blipFill>
        <p:spPr>
          <a:xfrm>
            <a:off x="5478342" y="2474153"/>
            <a:ext cx="6097656" cy="26692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53484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49205-A8AA-E674-0BD5-832A61E2353A}"/>
              </a:ext>
            </a:extLst>
          </p:cNvPr>
          <p:cNvSpPr>
            <a:spLocks noGrp="1"/>
          </p:cNvSpPr>
          <p:nvPr>
            <p:ph type="title"/>
          </p:nvPr>
        </p:nvSpPr>
        <p:spPr/>
        <p:txBody>
          <a:bodyPr/>
          <a:lstStyle/>
          <a:p>
            <a:r>
              <a:rPr lang="en-GB" dirty="0"/>
              <a:t>Final Recommendations</a:t>
            </a:r>
          </a:p>
        </p:txBody>
      </p:sp>
      <p:sp>
        <p:nvSpPr>
          <p:cNvPr id="4" name="Rectangle 1">
            <a:extLst>
              <a:ext uri="{FF2B5EF4-FFF2-40B4-BE49-F238E27FC236}">
                <a16:creationId xmlns:a16="http://schemas.microsoft.com/office/drawing/2014/main" id="{63D53189-69B8-420E-8B1C-4948B667434A}"/>
              </a:ext>
            </a:extLst>
          </p:cNvPr>
          <p:cNvSpPr>
            <a:spLocks noGrp="1" noChangeArrowheads="1"/>
          </p:cNvSpPr>
          <p:nvPr>
            <p:ph idx="1"/>
          </p:nvPr>
        </p:nvSpPr>
        <p:spPr bwMode="auto">
          <a:xfrm>
            <a:off x="1023126" y="2777482"/>
            <a:ext cx="35886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Upgrade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dashboard continuously</a:t>
            </a:r>
          </a:p>
        </p:txBody>
      </p:sp>
      <p:sp>
        <p:nvSpPr>
          <p:cNvPr id="6" name="TextBox 5">
            <a:extLst>
              <a:ext uri="{FF2B5EF4-FFF2-40B4-BE49-F238E27FC236}">
                <a16:creationId xmlns:a16="http://schemas.microsoft.com/office/drawing/2014/main" id="{475B95BC-1EB9-2D07-3607-53823F7960AC}"/>
              </a:ext>
            </a:extLst>
          </p:cNvPr>
          <p:cNvSpPr txBox="1"/>
          <p:nvPr/>
        </p:nvSpPr>
        <p:spPr>
          <a:xfrm>
            <a:off x="1023126" y="4090457"/>
            <a:ext cx="5182205" cy="1200329"/>
          </a:xfrm>
          <a:prstGeom prst="rect">
            <a:avLst/>
          </a:prstGeom>
          <a:noFill/>
        </p:spPr>
        <p:txBody>
          <a:bodyPr wrap="square">
            <a:spAutoFit/>
          </a:bodyPr>
          <a:lstStyle/>
          <a:p>
            <a:r>
              <a:rPr lang="en-GB" dirty="0"/>
              <a:t>My recommendations are clear: invest in targeted training, upgrade ticket management tools, and use this dashboard as a continuous monitoring tool</a:t>
            </a:r>
          </a:p>
        </p:txBody>
      </p:sp>
      <p:pic>
        <p:nvPicPr>
          <p:cNvPr id="8" name="Picture 7">
            <a:extLst>
              <a:ext uri="{FF2B5EF4-FFF2-40B4-BE49-F238E27FC236}">
                <a16:creationId xmlns:a16="http://schemas.microsoft.com/office/drawing/2014/main" id="{A3DDC9B2-7DBF-2706-B4D1-CADFBC0F4711}"/>
              </a:ext>
            </a:extLst>
          </p:cNvPr>
          <p:cNvPicPr>
            <a:picLocks noChangeAspect="1"/>
          </p:cNvPicPr>
          <p:nvPr/>
        </p:nvPicPr>
        <p:blipFill>
          <a:blip r:embed="rId2"/>
          <a:stretch>
            <a:fillRect/>
          </a:stretch>
        </p:blipFill>
        <p:spPr>
          <a:xfrm>
            <a:off x="6470374" y="2683018"/>
            <a:ext cx="4300179" cy="24853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69636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FAB5E-0318-524F-83E4-E12EFA616199}"/>
              </a:ext>
            </a:extLst>
          </p:cNvPr>
          <p:cNvSpPr>
            <a:spLocks noGrp="1"/>
          </p:cNvSpPr>
          <p:nvPr>
            <p:ph type="title"/>
          </p:nvPr>
        </p:nvSpPr>
        <p:spPr/>
        <p:txBody>
          <a:bodyPr/>
          <a:lstStyle/>
          <a:p>
            <a:r>
              <a:rPr lang="en-GB" dirty="0"/>
              <a:t>Conclusion</a:t>
            </a:r>
          </a:p>
        </p:txBody>
      </p:sp>
      <p:sp>
        <p:nvSpPr>
          <p:cNvPr id="4" name="Rectangle 1">
            <a:extLst>
              <a:ext uri="{FF2B5EF4-FFF2-40B4-BE49-F238E27FC236}">
                <a16:creationId xmlns:a16="http://schemas.microsoft.com/office/drawing/2014/main" id="{7D650E15-0296-93D1-4503-2B86004E7634}"/>
              </a:ext>
            </a:extLst>
          </p:cNvPr>
          <p:cNvSpPr>
            <a:spLocks noGrp="1" noChangeArrowheads="1"/>
          </p:cNvSpPr>
          <p:nvPr>
            <p:ph idx="1"/>
          </p:nvPr>
        </p:nvSpPr>
        <p:spPr bwMode="auto">
          <a:xfrm>
            <a:off x="913795" y="2250523"/>
            <a:ext cx="31115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Enable, don’t expand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Data-driven improvement</a:t>
            </a:r>
          </a:p>
        </p:txBody>
      </p:sp>
      <p:sp>
        <p:nvSpPr>
          <p:cNvPr id="6" name="TextBox 5">
            <a:extLst>
              <a:ext uri="{FF2B5EF4-FFF2-40B4-BE49-F238E27FC236}">
                <a16:creationId xmlns:a16="http://schemas.microsoft.com/office/drawing/2014/main" id="{00B9F83D-2D8B-3458-442D-D18885AD3FE6}"/>
              </a:ext>
            </a:extLst>
          </p:cNvPr>
          <p:cNvSpPr txBox="1"/>
          <p:nvPr/>
        </p:nvSpPr>
        <p:spPr>
          <a:xfrm>
            <a:off x="913795" y="3544454"/>
            <a:ext cx="4970170" cy="1477328"/>
          </a:xfrm>
          <a:prstGeom prst="rect">
            <a:avLst/>
          </a:prstGeom>
          <a:noFill/>
        </p:spPr>
        <p:txBody>
          <a:bodyPr wrap="square">
            <a:spAutoFit/>
          </a:bodyPr>
          <a:lstStyle/>
          <a:p>
            <a:r>
              <a:rPr lang="en-GB" dirty="0"/>
              <a:t>To conclude, improving IT support performance is less about adding people and more about empowering the existing team. With the right skills and tools, we can reduce resolution time and improve satisfaction</a:t>
            </a:r>
          </a:p>
        </p:txBody>
      </p:sp>
      <p:pic>
        <p:nvPicPr>
          <p:cNvPr id="8" name="Picture 7">
            <a:extLst>
              <a:ext uri="{FF2B5EF4-FFF2-40B4-BE49-F238E27FC236}">
                <a16:creationId xmlns:a16="http://schemas.microsoft.com/office/drawing/2014/main" id="{FD02FF4F-202B-3F01-D43F-3A9953AB5E3B}"/>
              </a:ext>
            </a:extLst>
          </p:cNvPr>
          <p:cNvPicPr>
            <a:picLocks noChangeAspect="1"/>
          </p:cNvPicPr>
          <p:nvPr/>
        </p:nvPicPr>
        <p:blipFill>
          <a:blip r:embed="rId2"/>
          <a:stretch>
            <a:fillRect/>
          </a:stretch>
        </p:blipFill>
        <p:spPr>
          <a:xfrm>
            <a:off x="6490935" y="2350225"/>
            <a:ext cx="4640891" cy="26715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160118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TM03457452[[fn=Celestial]]</Template>
  <TotalTime>313</TotalTime>
  <Words>655</Words>
  <Application>Microsoft Office PowerPoint</Application>
  <PresentationFormat>Widescreen</PresentationFormat>
  <Paragraphs>75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Bookman Old Style</vt:lpstr>
      <vt:lpstr>Rockwell</vt:lpstr>
      <vt:lpstr>Damask</vt:lpstr>
      <vt:lpstr>Spreadsheet Project: IT Ticket Analysis  </vt:lpstr>
      <vt:lpstr>Agenda</vt:lpstr>
      <vt:lpstr>Problem Statement</vt:lpstr>
      <vt:lpstr>Data Overview</vt:lpstr>
      <vt:lpstr>Ticket Volume Trend</vt:lpstr>
      <vt:lpstr>Ticket Categories</vt:lpstr>
      <vt:lpstr>Agent Workload Distribution</vt:lpstr>
      <vt:lpstr>Resolution Time by Agent</vt:lpstr>
      <vt:lpstr>Severity vs Resolution Time</vt:lpstr>
      <vt:lpstr>Investment Decision</vt:lpstr>
      <vt:lpstr>Training Needs</vt:lpstr>
      <vt:lpstr>Request Category Performance</vt:lpstr>
      <vt:lpstr>Effectiveness of Current Tools</vt:lpstr>
      <vt:lpstr>Performance Over Time</vt:lpstr>
      <vt:lpstr>Dashboard Walkthrough</vt:lpstr>
      <vt:lpstr>Final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Adithya Adi</dc:creator>
  <cp:lastModifiedBy>Adithya Adi</cp:lastModifiedBy>
  <cp:revision>3</cp:revision>
  <dcterms:created xsi:type="dcterms:W3CDTF">2026-01-04T17:07:15Z</dcterms:created>
  <dcterms:modified xsi:type="dcterms:W3CDTF">2026-01-19T20:30:36Z</dcterms:modified>
</cp:coreProperties>
</file>